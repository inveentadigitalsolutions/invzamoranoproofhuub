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822960"/>
            <a:ext cx="128016" cy="128016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1371600"/>
            <a:ext cx="82296" cy="82296"/>
          </a:xfrm>
          <a:prstGeom prst="ellipse">
            <a:avLst/>
          </a:prstGeom>
          <a:solidFill>
            <a:srgbClr val="1C6B4C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737360"/>
            <a:ext cx="128016" cy="128016"/>
          </a:xfrm>
          <a:prstGeom prst="ellipse">
            <a:avLst/>
          </a:prstGeom>
          <a:solidFill>
            <a:srgbClr val="1C6B4C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2468880"/>
            <a:ext cx="82296" cy="82296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2651760"/>
            <a:ext cx="128016" cy="128016"/>
          </a:xfrm>
          <a:prstGeom prst="ellipse">
            <a:avLst/>
          </a:prstGeom>
          <a:solidFill>
            <a:srgbClr val="1C6B4C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0" y="640080"/>
            <a:ext cx="82296" cy="82296"/>
          </a:xfrm>
          <a:prstGeom prst="ellipse">
            <a:avLst/>
          </a:prstGeom>
          <a:solidFill>
            <a:srgbClr val="1C6B4C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0" y="886968"/>
            <a:ext cx="822960" cy="548640"/>
          </a:xfrm>
          <a:prstGeom prst="line">
            <a:avLst/>
          </a:prstGeom>
          <a:noFill/>
          <a:ln w="12700">
            <a:solidFill>
              <a:srgbClr val="1C6B4C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0" y="1435608"/>
            <a:ext cx="548640" cy="365760"/>
          </a:xfrm>
          <a:prstGeom prst="line">
            <a:avLst/>
          </a:prstGeom>
          <a:noFill/>
          <a:ln w="12700">
            <a:solidFill>
              <a:srgbClr val="1C6B4C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0" y="2697480"/>
            <a:ext cx="822960" cy="-228600"/>
          </a:xfrm>
          <a:prstGeom prst="line">
            <a:avLst/>
          </a:prstGeom>
          <a:noFill/>
          <a:ln w="12700">
            <a:solidFill>
              <a:srgbClr val="1C6B4C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UNIVERSITY  ·  BOARD OF TRUSTEES  · 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Zamorano in a Fast-Evolving</a:t>
            </a:r>
            <a:endParaRPr lang="en-US" sz="4600" dirty="0"/>
          </a:p>
          <a:p>
            <a:pPr algn="l"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World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Tropical Proof Hub — from a European mission to a global position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6080760" cy="566928"/>
          </a:xfrm>
          <a:prstGeom prst="roundRect">
            <a:avLst>
              <a:gd name="adj" fmla="val 50000"/>
            </a:avLst>
          </a:prstGeom>
          <a:solidFill>
            <a:srgbClr val="09291F"/>
          </a:solidFill>
          <a:ln w="12700">
            <a:solidFill>
              <a:srgbClr val="1C6B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910328"/>
            <a:ext cx="164592" cy="164592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70916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E7F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first   ·   Evidence always   ·   Adoption at scale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THIS PRESENTATION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what we saw to what it means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presentation reported the mission. This one draws its strategic conclusions.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074920" cy="3200400"/>
          </a:xfrm>
          <a:prstGeom prst="roundRect">
            <a:avLst>
              <a:gd name="adj" fmla="val 2857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670048"/>
            <a:ext cx="201168" cy="201168"/>
          </a:xfrm>
          <a:prstGeom prst="ellipse">
            <a:avLst/>
          </a:prstGeom>
          <a:solidFill>
            <a:srgbClr val="6C7A70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5603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PRESENTATION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4343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9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did.
</a:t>
            </a:r>
            <a:endParaRPr lang="en-US" sz="19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European institutional mission — 15+ organizations across Germany and the Netherlands, the leaders we met, and what the delegation observed.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49377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22 – July 2,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5074920" cy="3200400"/>
          </a:xfrm>
          <a:prstGeom prst="roundRect">
            <a:avLst>
              <a:gd name="adj" fmla="val 2857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14300" dist="38100" dir="5400000">
              <a:srgbClr val="0A1F17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670048"/>
            <a:ext cx="201168" cy="201168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25603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3108960"/>
            <a:ext cx="4343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means.
</a:t>
            </a:r>
            <a:endParaRPr lang="en-US" sz="19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C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agriculture is changing, the role Zamorano is uniquely built to hold, and how these separate visits become one coherent architecture.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49377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holistic view for the Board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42432" y="3657600"/>
            <a:ext cx="457200" cy="457200"/>
          </a:xfrm>
          <a:prstGeom prst="chevron">
            <a:avLst/>
          </a:prstGeom>
          <a:solidFill>
            <a:srgbClr val="E0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 ·  THE TROPICAL PROOF HUB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in agriculture is being redefined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alone no longer describes the performance of a production system.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749040" cy="2834640"/>
          </a:xfrm>
          <a:prstGeom prst="roundRect">
            <a:avLst>
              <a:gd name="adj" fmla="val 3226"/>
            </a:avLst>
          </a:prstGeom>
          <a:solidFill>
            <a:srgbClr val="EEF3E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7216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28853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discipline at a time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26280" y="3538728"/>
            <a:ext cx="502920" cy="512064"/>
          </a:xfrm>
          <a:prstGeom prst="chevron">
            <a:avLst/>
          </a:prstGeom>
          <a:solidFill>
            <a:srgbClr val="E0A93B"/>
          </a:solidFill>
          <a:ln/>
        </p:spPr>
      </p:sp>
      <p:sp>
        <p:nvSpPr>
          <p:cNvPr id="11" name="Shape 9"/>
          <p:cNvSpPr/>
          <p:nvPr/>
        </p:nvSpPr>
        <p:spPr>
          <a:xfrm>
            <a:off x="5166360" y="2377440"/>
            <a:ext cx="6385255" cy="2834640"/>
          </a:xfrm>
          <a:prstGeom prst="roundRect">
            <a:avLst>
              <a:gd name="adj" fmla="val 3226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14300" dist="38100" dir="5400000">
              <a:srgbClr val="0A1F17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2651760"/>
            <a:ext cx="5562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MEASURED BY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3273552"/>
            <a:ext cx="118872" cy="118872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14" name="Text 12"/>
          <p:cNvSpPr/>
          <p:nvPr/>
        </p:nvSpPr>
        <p:spPr>
          <a:xfrm>
            <a:off x="5824728" y="3108960"/>
            <a:ext cx="5379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yield  </a:t>
            </a:r>
            <a:pPr indent="0" marL="0">
              <a:buNone/>
            </a:pPr>
            <a:r>
              <a:rPr lang="en-US" sz="1250" dirty="0">
                <a:solidFill>
                  <a:srgbClr val="BFD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protein &amp; micronutrient delivery per hectare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77840" y="3776472"/>
            <a:ext cx="118872" cy="118872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16" name="Text 14"/>
          <p:cNvSpPr/>
          <p:nvPr/>
        </p:nvSpPr>
        <p:spPr>
          <a:xfrm>
            <a:off x="5824728" y="3611880"/>
            <a:ext cx="5379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 </a:t>
            </a:r>
            <a:pPr indent="0" marL="0">
              <a:buNone/>
            </a:pPr>
            <a:r>
              <a:rPr lang="en-US" sz="1250" dirty="0">
                <a:solidFill>
                  <a:srgbClr val="BFD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under heat, elevated CO₂ and ozone stress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0" y="4279392"/>
            <a:ext cx="118872" cy="118872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18" name="Text 16"/>
          <p:cNvSpPr/>
          <p:nvPr/>
        </p:nvSpPr>
        <p:spPr>
          <a:xfrm>
            <a:off x="5824728" y="4114800"/>
            <a:ext cx="5379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&amp; traceability  </a:t>
            </a:r>
            <a:pPr indent="0" marL="0">
              <a:buNone/>
            </a:pPr>
            <a:r>
              <a:rPr lang="en-US" sz="1250" dirty="0">
                <a:solidFill>
                  <a:srgbClr val="BFD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lower mycotoxin and contamination risk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77840" y="4782312"/>
            <a:ext cx="118872" cy="118872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20" name="Text 18"/>
          <p:cNvSpPr/>
          <p:nvPr/>
        </p:nvSpPr>
        <p:spPr>
          <a:xfrm>
            <a:off x="5824728" y="4617720"/>
            <a:ext cx="5379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at scale  </a:t>
            </a:r>
            <a:pPr indent="0" marL="0">
              <a:buNone/>
            </a:pPr>
            <a:r>
              <a:rPr lang="en-US" sz="1250" dirty="0">
                <a:solidFill>
                  <a:srgbClr val="BFD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validated practices producers actually use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CO₂ and temperatures cut protein and key micronutrients in staple crops — so performance must be validated, measured and reproduced under real conditions.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 ·  THE TROPICAL PROOF HUB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FAST-EVOLVING TECHNOLOGY WORLD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frontier has moved to the digital–biological intersection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agriculture will not be transformed by agriculture alone — but by the convergence of these capabilities.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642616"/>
            <a:ext cx="237744" cy="237744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255117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exascale computing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3081528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of climate, soil and biological systems (JUWELS · JUPITER).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9704" y="233172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2312" y="2642616"/>
            <a:ext cx="237744" cy="237744"/>
          </a:xfrm>
          <a:prstGeom prst="ellipse">
            <a:avLst/>
          </a:prstGeom>
          <a:solidFill>
            <a:srgbClr val="1C6B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82312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75504" y="255117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phenotyping &amp; sensing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782312" y="3081528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Hyperspectral, fluorescence and field-to-cloud measurement.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39328" y="2331720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31936" y="2642616"/>
            <a:ext cx="237744" cy="237744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17" name="Text 15"/>
          <p:cNvSpPr/>
          <p:nvPr/>
        </p:nvSpPr>
        <p:spPr>
          <a:xfrm>
            <a:off x="8631936" y="26426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25128" y="255117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 &amp; automation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631936" y="3081528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and controlled-environment operations at scale.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197096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2688" y="4507992"/>
            <a:ext cx="237744" cy="237744"/>
          </a:xfrm>
          <a:prstGeom prst="ellipse">
            <a:avLst/>
          </a:prstGeom>
          <a:solidFill>
            <a:srgbClr val="1C6B4C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45079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44165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Omics &amp; microbiome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32688" y="4946904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Genetics and biological function of soil, plant and product.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89704" y="4197096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82312" y="4507992"/>
            <a:ext cx="237744" cy="237744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27" name="Text 25"/>
          <p:cNvSpPr/>
          <p:nvPr/>
        </p:nvSpPr>
        <p:spPr>
          <a:xfrm>
            <a:off x="4782312" y="45079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75504" y="44165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Controlled-environment ag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782312" y="4946904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 and vertical systems, resource-efficient production.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339328" y="4197096"/>
            <a:ext cx="3520440" cy="1554480"/>
          </a:xfrm>
          <a:prstGeom prst="roundRect">
            <a:avLst>
              <a:gd name="adj" fmla="val 5294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31936" y="4507992"/>
            <a:ext cx="237744" cy="237744"/>
          </a:xfrm>
          <a:prstGeom prst="ellipse">
            <a:avLst/>
          </a:prstGeom>
          <a:solidFill>
            <a:srgbClr val="1C6B4C"/>
          </a:solidFill>
          <a:ln/>
        </p:spPr>
      </p:sp>
      <p:sp>
        <p:nvSpPr>
          <p:cNvPr id="32" name="Text 30"/>
          <p:cNvSpPr/>
          <p:nvPr/>
        </p:nvSpPr>
        <p:spPr>
          <a:xfrm>
            <a:off x="8631936" y="45079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25128" y="44165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&amp; agrivoltaics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631936" y="4946904"/>
            <a:ext cx="29352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and energy generated on a single land base.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 ·  THE TROPICAL PROOF HUB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INSTITUTIONAL CHARACTERISTIC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only scientific excellence — scientific connectivity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2651760"/>
          </a:xfrm>
          <a:prstGeom prst="roundRect">
            <a:avLst>
              <a:gd name="adj" fmla="val 3448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2860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EXCELLENCE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274320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quality of research produced within an institution.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52044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Indispensable — but it describes only part of the environment in which frontier science is now made.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074920" cy="2651760"/>
          </a:xfrm>
          <a:prstGeom prst="roundRect">
            <a:avLst>
              <a:gd name="adj" fmla="val 3448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14300" dist="38100" dir="5400000">
              <a:srgbClr val="0A1F17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28600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CONNECTIVITY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29400" y="274320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ability to plug into the global ecosystems where new knowledge emerges.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352044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participate in, contribute to, and benefit from advances that no single institution generates alone.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E4EEDD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5840" y="5303520"/>
            <a:ext cx="146304" cy="14630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4937760"/>
            <a:ext cx="9905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agricultural challenges grow more complex, connectivity becomes part of scientific capacity itself.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 ·  THE TROPICAL PROOF HUB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ROLE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ecosystem does it all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leading research ecosystem leads somewhere — none combines frontier capability with tropical proof-at-scale.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EF3E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4203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FZ Jülich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/ AI, phenotyping, sensors, quantum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52928" y="22860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EF3E9"/>
          </a:solidFill>
          <a:ln/>
        </p:spPr>
      </p:sp>
      <p:sp>
        <p:nvSpPr>
          <p:cNvPr id="9" name="Text 7"/>
          <p:cNvSpPr/>
          <p:nvPr/>
        </p:nvSpPr>
        <p:spPr>
          <a:xfrm>
            <a:off x="3035808" y="254203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Cornell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035808" y="306324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Nanofab + photonics → CEA → post-harvest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65776" y="22860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EF3E9"/>
          </a:solidFill>
          <a:ln/>
        </p:spPr>
      </p:sp>
      <p:sp>
        <p:nvSpPr>
          <p:cNvPr id="12" name="Text 10"/>
          <p:cNvSpPr/>
          <p:nvPr/>
        </p:nvSpPr>
        <p:spPr>
          <a:xfrm>
            <a:off x="5248656" y="254203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Wageningen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48656" y="306324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circularity &amp; living labs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78624" y="22860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EF3E9"/>
          </a:solidFill>
          <a:ln/>
        </p:spPr>
      </p:sp>
      <p:sp>
        <p:nvSpPr>
          <p:cNvPr id="15" name="Text 13"/>
          <p:cNvSpPr/>
          <p:nvPr/>
        </p:nvSpPr>
        <p:spPr>
          <a:xfrm>
            <a:off x="7461504" y="254203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INRAE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461504" y="306324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One-Health &amp; agro-system depth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491472" y="22860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EF3E9"/>
          </a:solidFill>
          <a:ln/>
        </p:spPr>
      </p:sp>
      <p:sp>
        <p:nvSpPr>
          <p:cNvPr id="18" name="Text 16"/>
          <p:cNvSpPr/>
          <p:nvPr/>
        </p:nvSpPr>
        <p:spPr>
          <a:xfrm>
            <a:off x="9674352" y="2542032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 Davis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674352" y="306324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Post-harvest, food safety &amp; extension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14300" dist="38100" dir="5400000">
              <a:srgbClr val="0A1F17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45628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— AND THEREFORE THE ROLE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4910328"/>
            <a:ext cx="100885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Tropical proof-at-scale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DC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standardized nutritional-yield metrics  +  auditable MRV/QA built for resource-limited settings.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 ·  THE TROPICAL PROOF HUB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ADVANTAGE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Zamorano is built to fill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agricultural system where research, education, production and extension operate as one platform.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14300" dist="38100" dir="5400000">
              <a:srgbClr val="0A1F17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32688" y="3291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HECTARES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32688" y="3703320"/>
            <a:ext cx="2112264" cy="0"/>
          </a:xfrm>
          <a:prstGeom prst="line">
            <a:avLst/>
          </a:prstGeom>
          <a:noFill/>
          <a:ln w="12700">
            <a:solidFill>
              <a:srgbClr val="1C6B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8404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C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agricultural system — not a research plot. Innovations are tested under real farm dynamics.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233172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858768" y="3291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FARMER-READY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58768" y="3703320"/>
            <a:ext cx="2112264" cy="0"/>
          </a:xfrm>
          <a:prstGeom prst="line">
            <a:avLst/>
          </a:prstGeom>
          <a:noFill/>
          <a:ln w="12700">
            <a:solidFill>
              <a:srgbClr val="D5DF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38404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under real production conditions, not discovery alone — closing the prototype-to-proof gap.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233172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84848" y="3291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PAN-LATIN GROUND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84848" y="3703320"/>
            <a:ext cx="2112264" cy="0"/>
          </a:xfrm>
          <a:prstGeom prst="line">
            <a:avLst/>
          </a:prstGeom>
          <a:noFill/>
          <a:ln w="12700">
            <a:solidFill>
              <a:srgbClr val="D5DF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8404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Non-governmental and regionally neutral — a trusted convening site for multinational validation.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18320" y="233172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92640" y="2651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710928" y="329184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TO-FIELD CHAIN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710928" y="3703320"/>
            <a:ext cx="2112264" cy="0"/>
          </a:xfrm>
          <a:prstGeom prst="line">
            <a:avLst/>
          </a:prstGeom>
          <a:noFill/>
          <a:ln w="12700">
            <a:solidFill>
              <a:srgbClr val="D5DF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384048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alumni network across every agro-ecological zone of Latin America — translation faster than any extension service.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 ·  THE TROPICAL PROOF HUB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Tropical Proof Hub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does not replicate frontier discovery — it validates, adapts and transfers it at scale.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43688" y="25146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09291F"/>
          </a:solidFill>
          <a:ln w="19050">
            <a:solidFill>
              <a:srgbClr val="1C6B4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17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3728" y="2770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3728" y="3172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3728" y="35021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partners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63728" y="4069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accessed through collaboration — not duplicated in-house.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04208" y="228600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8FBF3F"/>
          </a:solidFill>
          <a:ln w="19050">
            <a:solidFill>
              <a:srgbClr val="8FBF3F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17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24248" y="25420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24248" y="2944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4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24248" y="32735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Zamorano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24248" y="3977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3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under tropical biological complexity, with auditable MRV/QA.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564728" y="25146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09291F"/>
          </a:solidFill>
          <a:ln w="19050">
            <a:solidFill>
              <a:srgbClr val="1C6B4C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17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84768" y="2770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84768" y="3172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84768" y="35021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Producers &amp; partners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884768" y="40690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transferable systems put to work across the tropics.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736696" y="3401568"/>
            <a:ext cx="548640" cy="512064"/>
          </a:xfrm>
          <a:prstGeom prst="chevron">
            <a:avLst/>
          </a:prstGeom>
          <a:solidFill>
            <a:srgbClr val="E0A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7897216" y="3401568"/>
            <a:ext cx="548640" cy="512064"/>
          </a:xfrm>
          <a:prstGeom prst="chevron">
            <a:avLst/>
          </a:prstGeom>
          <a:solidFill>
            <a:srgbClr val="E0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FB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first  ·  Evidence always  ·  Adoption at scale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EUROPEAN MISSION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mission was not a tour — it was an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institution maps to a capability Zamorano needs. Together they form five pillars.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084832" cy="3703320"/>
          </a:xfrm>
          <a:prstGeom prst="roundRect">
            <a:avLst>
              <a:gd name="adj" fmla="val 3947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578608"/>
            <a:ext cx="365760" cy="36576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&amp;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hard-tech anchor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171907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FZ Jülich (IBG-2 · JSC)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270248"/>
            <a:ext cx="171907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Univ. Bonn — Klein-Altendorf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52928" y="2286000"/>
            <a:ext cx="2084832" cy="3703320"/>
          </a:xfrm>
          <a:prstGeom prst="roundRect">
            <a:avLst>
              <a:gd name="adj" fmla="val 3947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72384" y="2578608"/>
            <a:ext cx="365760" cy="36576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13" name="Text 11"/>
          <p:cNvSpPr/>
          <p:nvPr/>
        </p:nvSpPr>
        <p:spPr>
          <a:xfrm>
            <a:off x="3072384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35808" y="306324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Mechanization &amp;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 systems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35808" y="3886200"/>
            <a:ext cx="171907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35808" y="4270248"/>
            <a:ext cx="171907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LEMKEN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65776" y="2286000"/>
            <a:ext cx="2084832" cy="3703320"/>
          </a:xfrm>
          <a:prstGeom prst="roundRect">
            <a:avLst>
              <a:gd name="adj" fmla="val 3947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85232" y="2578608"/>
            <a:ext cx="365760" cy="36576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19" name="Text 17"/>
          <p:cNvSpPr/>
          <p:nvPr/>
        </p:nvSpPr>
        <p:spPr>
          <a:xfrm>
            <a:off x="5285232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48656" y="306324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Dairy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48656" y="3886200"/>
            <a:ext cx="171907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48656" y="4270248"/>
            <a:ext cx="171907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78624" y="2286000"/>
            <a:ext cx="2084832" cy="3703320"/>
          </a:xfrm>
          <a:prstGeom prst="roundRect">
            <a:avLst>
              <a:gd name="adj" fmla="val 3947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0" y="2578608"/>
            <a:ext cx="365760" cy="36576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61504" y="306324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ag,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seeds &amp; markets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61504" y="3886200"/>
            <a:ext cx="171907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BASF Nunhems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61504" y="4270248"/>
            <a:ext cx="171907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Koppert Cress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61504" y="4654296"/>
            <a:ext cx="171907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Horti Center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61504" y="5038344"/>
            <a:ext cx="171907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FloraHolland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61504" y="5422392"/>
            <a:ext cx="171907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Brightlands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491472" y="2286000"/>
            <a:ext cx="2084832" cy="3703320"/>
          </a:xfrm>
          <a:prstGeom prst="roundRect">
            <a:avLst>
              <a:gd name="adj" fmla="val 3947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710928" y="2578608"/>
            <a:ext cx="365760" cy="36576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34" name="Text 32"/>
          <p:cNvSpPr/>
          <p:nvPr/>
        </p:nvSpPr>
        <p:spPr>
          <a:xfrm>
            <a:off x="9710928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74352" y="3063240"/>
            <a:ext cx="17190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Energy–land &amp;</a:t>
            </a:r>
            <a:endParaRPr lang="en-US" sz="13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 models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674352" y="3886200"/>
            <a:ext cx="171907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Agri-Food-Energy Park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674352" y="4270248"/>
            <a:ext cx="1719072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Agri-PV (Jülich · RWE)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 ·  THE TROPICAL PROOF HUB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DISCOVERY &amp; HARD-TECH ANCHOR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774375" y="457200"/>
            <a:ext cx="777240" cy="77724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4" name="Text 2"/>
          <p:cNvSpPr/>
          <p:nvPr/>
        </p:nvSpPr>
        <p:spPr>
          <a:xfrm>
            <a:off x="10774375" y="457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to frontier science, without owning it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977286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297728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Forschungszentrum Jülich — IBG-2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81958" y="1783080"/>
            <a:ext cx="2637130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9" name="Text 7"/>
          <p:cNvSpPr/>
          <p:nvPr/>
        </p:nvSpPr>
        <p:spPr>
          <a:xfrm>
            <a:off x="3781958" y="1783080"/>
            <a:ext cx="26371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Jülich Supercomputing Centre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0" y="1783080"/>
            <a:ext cx="2637130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83080"/>
            <a:ext cx="26371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Univ. Bonn — Klein-Altendorf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5074920" cy="2514600"/>
          </a:xfrm>
          <a:prstGeom prst="roundRect">
            <a:avLst>
              <a:gd name="adj" fmla="val 3636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2898648"/>
            <a:ext cx="164592" cy="164592"/>
          </a:xfrm>
          <a:prstGeom prst="ellipse">
            <a:avLst/>
          </a:prstGeom>
          <a:solidFill>
            <a:srgbClr val="1C6B4C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2788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GAINED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291840"/>
            <a:ext cx="4343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plant phenotyping, AI and exascale modeling, bioeconomy and perennial-biomass science, and field-to-cloud research platforms — an integrated scientific ecosystem spanning discovery to field application.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514600"/>
            <a:ext cx="5074920" cy="2514600"/>
          </a:xfrm>
          <a:prstGeom prst="roundRect">
            <a:avLst>
              <a:gd name="adj" fmla="val 3636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14300" dist="38100" dir="5400000">
              <a:srgbClr val="0A1F17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2898648"/>
            <a:ext cx="164592" cy="164592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788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UNLOCKS FOR ZAMORANO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3291840"/>
            <a:ext cx="4343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discovery anchor Zamorano can translate into field-validated tropical systems — the science it accesses through partnership rather than replicates, with complementary tropical validation Jülich cannot perform.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Met:  </a:t>
            </a:r>
            <a:pPr indent="0" marL="0">
              <a:buNone/>
            </a:pPr>
            <a:r>
              <a:rPr lang="en-US" sz="11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Uwe Rascher, Prof. Ulrich Schurr, Dr. Nikolai Jablonowski, Dr. Robert Koller (Jülich); Prof. Ralf Pude (Bonn).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 ·  THE TROPICAL PROOF HUB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MECHANIZATION &amp; SOIL SYSTEMS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774375" y="457200"/>
            <a:ext cx="777240" cy="77724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4" name="Text 2"/>
          <p:cNvSpPr/>
          <p:nvPr/>
        </p:nvSpPr>
        <p:spPr>
          <a:xfrm>
            <a:off x="10774375" y="457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Machinery as part of the learning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786738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17867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CLAAS — JAGUAR 930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91410" y="1783080"/>
            <a:ext cx="2296973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9" name="Text 7"/>
          <p:cNvSpPr/>
          <p:nvPr/>
        </p:nvSpPr>
        <p:spPr>
          <a:xfrm>
            <a:off x="2591410" y="1783080"/>
            <a:ext cx="229697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LEMKEN — incl. Crop Care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5074920" cy="2514600"/>
          </a:xfrm>
          <a:prstGeom prst="roundRect">
            <a:avLst>
              <a:gd name="adj" fmla="val 3636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2898648"/>
            <a:ext cx="164592" cy="164592"/>
          </a:xfrm>
          <a:prstGeom prst="ellipse">
            <a:avLst/>
          </a:prstGeom>
          <a:solidFill>
            <a:srgbClr val="1C6B4C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788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GAINED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4343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System-level mechanization: machine–soil–crop interaction, controlled tillage and seedbed quality, precision and non-chemical crop care, and digital fleet management across large areas.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514600"/>
            <a:ext cx="5074920" cy="2514600"/>
          </a:xfrm>
          <a:prstGeom prst="roundRect">
            <a:avLst>
              <a:gd name="adj" fmla="val 3636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14300" dist="38100" dir="5400000">
              <a:srgbClr val="0A1F17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2898648"/>
            <a:ext cx="164592" cy="164592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788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UNLOCKS FOR ZAMORANO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4343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units run as teaching-integrated operations, with equipment chosen by agronomic objective rather than machine-by-machine. CLAAS has asked Zamorano to define its future equipment and training needs.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2120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Met:  </a:t>
            </a:r>
            <a:pPr indent="0" marL="0">
              <a:buNone/>
            </a:pPr>
            <a:r>
              <a:rPr lang="en-US" sz="11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Joerg Wesseimann, Global Product Team Manager – JAGUAR (CLAAS); Luisa Urbanowski, Market Development Manager (LEMKEN).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 ·  THE TROPICAL PROOF HUB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 · DAIRY TRANSFORMATION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774375" y="457200"/>
            <a:ext cx="777240" cy="77724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4" name="Text 2"/>
          <p:cNvSpPr/>
          <p:nvPr/>
        </p:nvSpPr>
        <p:spPr>
          <a:xfrm>
            <a:off x="10774375" y="457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visions of advanced dairy, compared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041855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20418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 Farm Technologies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46527" y="1783080"/>
            <a:ext cx="596189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9" name="Text 7"/>
          <p:cNvSpPr/>
          <p:nvPr/>
        </p:nvSpPr>
        <p:spPr>
          <a:xfrm>
            <a:off x="2846527" y="1783080"/>
            <a:ext cx="59618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5074920" cy="2514600"/>
          </a:xfrm>
          <a:prstGeom prst="roundRect">
            <a:avLst>
              <a:gd name="adj" fmla="val 3636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2898648"/>
            <a:ext cx="164592" cy="164592"/>
          </a:xfrm>
          <a:prstGeom prst="ellipse">
            <a:avLst/>
          </a:prstGeom>
          <a:solidFill>
            <a:srgbClr val="1C6B4C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788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GAINED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291840"/>
            <a:ext cx="4343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references for dairy modernization — GEA's conventional and rotary-carousel systems observed in commercial operation, and Lely's fully robotic, automated model — spanning herd monitoring, welfare and regenerative practice.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514600"/>
            <a:ext cx="5074920" cy="2514600"/>
          </a:xfrm>
          <a:prstGeom prst="roundRect">
            <a:avLst>
              <a:gd name="adj" fmla="val 3636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14300" dist="38100" dir="5400000">
              <a:srgbClr val="0A1F17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2898648"/>
            <a:ext cx="164592" cy="164592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788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UNLOCKS FOR ZAMORANO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4343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technically grounded modernization path for Zamorano's dairy, plus a partner for the training and workforce development that responsible adoption requires across Latin America. GEA and Lely quotations are in evaluation.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2120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Met:  </a:t>
            </a:r>
            <a:pPr indent="0" marL="0">
              <a:buNone/>
            </a:pPr>
            <a:r>
              <a:rPr lang="en-US" sz="11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 Shen and Esteban Romnero (GEA); Henk van Dongen, Director of Alternatives &amp; Regenerative Agriculture (Lely).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 ·  THE TROPICAL PROOF HUB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 · PROTECTED AGRICULTURE, SEEDS &amp; MARKETS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774375" y="457200"/>
            <a:ext cx="777240" cy="77724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4" name="Text 2"/>
          <p:cNvSpPr/>
          <p:nvPr/>
        </p:nvSpPr>
        <p:spPr>
          <a:xfrm>
            <a:off x="10774375" y="457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genetics to greenhouse to global market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276502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12765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BASF Nunhems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81174" y="1783080"/>
            <a:ext cx="1361542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9" name="Text 7"/>
          <p:cNvSpPr/>
          <p:nvPr/>
        </p:nvSpPr>
        <p:spPr>
          <a:xfrm>
            <a:off x="2081174" y="1783080"/>
            <a:ext cx="136154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Koppert Cress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07308" y="1783080"/>
            <a:ext cx="1786738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11" name="Text 9"/>
          <p:cNvSpPr/>
          <p:nvPr/>
        </p:nvSpPr>
        <p:spPr>
          <a:xfrm>
            <a:off x="3607308" y="1783080"/>
            <a:ext cx="17867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Horti Center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58638" y="1783080"/>
            <a:ext cx="1786738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13" name="Text 11"/>
          <p:cNvSpPr/>
          <p:nvPr/>
        </p:nvSpPr>
        <p:spPr>
          <a:xfrm>
            <a:off x="5558638" y="1783080"/>
            <a:ext cx="17867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FloraHolland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09967" y="1783080"/>
            <a:ext cx="1191463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15" name="Text 13"/>
          <p:cNvSpPr/>
          <p:nvPr/>
        </p:nvSpPr>
        <p:spPr>
          <a:xfrm>
            <a:off x="7509967" y="1783080"/>
            <a:ext cx="11914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Brightlands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5074920" cy="2514600"/>
          </a:xfrm>
          <a:prstGeom prst="roundRect">
            <a:avLst>
              <a:gd name="adj" fmla="val 3636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2898648"/>
            <a:ext cx="164592" cy="164592"/>
          </a:xfrm>
          <a:prstGeom prst="ellipse">
            <a:avLst/>
          </a:prstGeom>
          <a:solidFill>
            <a:srgbClr val="1C6B4C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2788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GAINED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291840"/>
            <a:ext cx="4343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Greenhouse-based seed production, high-value specialty crops, controlled-environment technology, and market intelligence — value created through quality, differentiation and market access, not volume alone.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2514600"/>
            <a:ext cx="5074920" cy="2514600"/>
          </a:xfrm>
          <a:prstGeom prst="roundRect">
            <a:avLst>
              <a:gd name="adj" fmla="val 3636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14300" dist="38100" dir="5400000">
              <a:srgbClr val="0A1F17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2898648"/>
            <a:ext cx="164592" cy="164592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788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UNLOCKS FOR ZAMORANO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291840"/>
            <a:ext cx="4343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pathway to greenhouse and seed programs under tropical conditions, student mobility into leading horticultural environments, and a route connecting Zamorano's production to international markets.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Met:  </a:t>
            </a:r>
            <a:pPr indent="0" marL="0">
              <a:buNone/>
            </a:pPr>
            <a:r>
              <a:rPr lang="en-US" sz="11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Jan van den Berg (BASF); Michelle Tanis (Koppert Cress); Dr. Onno Müller &amp; Dr. Cyriel Mentink (Brightlands); Azzam Abdelshafi (Royal FloraHolland).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 ·  THE TROPICAL PROOF HUB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5 · ENERGY–LAND INTEGRATION &amp; ECOSYSTEM MODELS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774375" y="457200"/>
            <a:ext cx="777240" cy="777240"/>
          </a:xfrm>
          <a:prstGeom prst="ellipse">
            <a:avLst/>
          </a:prstGeom>
          <a:solidFill>
            <a:srgbClr val="0E3B2E"/>
          </a:solidFill>
          <a:ln/>
        </p:spPr>
      </p:sp>
      <p:sp>
        <p:nvSpPr>
          <p:cNvPr id="4" name="Text 2"/>
          <p:cNvSpPr/>
          <p:nvPr/>
        </p:nvSpPr>
        <p:spPr>
          <a:xfrm>
            <a:off x="10774375" y="457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FB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Multi-output land; the networked campus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041855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204185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Agri-Food-Energy Park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46527" y="1783080"/>
            <a:ext cx="2126894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9" name="Text 7"/>
          <p:cNvSpPr/>
          <p:nvPr/>
        </p:nvSpPr>
        <p:spPr>
          <a:xfrm>
            <a:off x="2846527" y="1783080"/>
            <a:ext cx="212689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Agri-PV (Jülich · RWE)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38014" y="1783080"/>
            <a:ext cx="1786738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11" name="Text 9"/>
          <p:cNvSpPr/>
          <p:nvPr/>
        </p:nvSpPr>
        <p:spPr>
          <a:xfrm>
            <a:off x="5138014" y="1783080"/>
            <a:ext cx="178673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Horti Center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89343" y="1783080"/>
            <a:ext cx="1191463" cy="384048"/>
          </a:xfrm>
          <a:prstGeom prst="roundRect">
            <a:avLst>
              <a:gd name="adj" fmla="val 50000"/>
            </a:avLst>
          </a:prstGeom>
          <a:solidFill>
            <a:srgbClr val="E4EEDD"/>
          </a:solidFill>
          <a:ln/>
        </p:spPr>
      </p:sp>
      <p:sp>
        <p:nvSpPr>
          <p:cNvPr id="13" name="Text 11"/>
          <p:cNvSpPr/>
          <p:nvPr/>
        </p:nvSpPr>
        <p:spPr>
          <a:xfrm>
            <a:off x="7089343" y="1783080"/>
            <a:ext cx="11914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Brightlands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14600"/>
            <a:ext cx="5074920" cy="2514600"/>
          </a:xfrm>
          <a:prstGeom prst="roundRect">
            <a:avLst>
              <a:gd name="adj" fmla="val 3636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2898648"/>
            <a:ext cx="164592" cy="164592"/>
          </a:xfrm>
          <a:prstGeom prst="ellipse">
            <a:avLst/>
          </a:prstGeom>
          <a:solidFill>
            <a:srgbClr val="1C6B4C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2788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GAINED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291840"/>
            <a:ext cx="4343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Agrivoltaics and multi-output land use — food and energy generated on a single land base — alongside open-innovation campus models where education, research and industry continuously co-create.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2514600"/>
            <a:ext cx="5074920" cy="2514600"/>
          </a:xfrm>
          <a:prstGeom prst="roundRect">
            <a:avLst>
              <a:gd name="adj" fmla="val 3636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14300" dist="38100" dir="5400000">
              <a:srgbClr val="0A1F17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2898648"/>
            <a:ext cx="164592" cy="164592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7889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UNLOCKS FOR ZAMORANO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3291840"/>
            <a:ext cx="4343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and operational reference for the Living Campus / WPIC, and a basis for evaluating agrivoltaics under tropical conditions without compromising biological productivity.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Met:  </a:t>
            </a:r>
            <a:pPr indent="0" marL="0">
              <a:buNone/>
            </a:pPr>
            <a:r>
              <a:rPr lang="en-US" sz="11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teams at the Agri-Food-Energy Park and the Bedburg Agri-PV facility (Forschungszentrum Jülich · RWE).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 ·  THE TROPICAL PROOF HUB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pillars, one governance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are organized by complementary strengths — not institutional similarity.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5146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HARD-TECH ANCHOR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292608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measurement, modeling, sensors, controlled-environment and energy systems.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37490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Forschungszentrum Jülich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24028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51460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/ TRANSFER PARTNER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926080"/>
            <a:ext cx="4251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Post-harvest, food safety, economics and extension networks.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374904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Duke · UC Davis · applied innovation campuses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0E3B2E"/>
          </a:solidFill>
          <a:ln/>
          <a:effectLst>
            <a:outerShdw sx="100000" sy="100000" kx="0" ky="0" algn="bl" rotWithShape="0" blurRad="114300" dist="38100" dir="5400000">
              <a:srgbClr val="0A1F17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47914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/ QA — THE COMMON OPERATING LANGUAGE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5120640"/>
            <a:ext cx="100885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CE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data, traceable workflows, FAIR principles and clear IP turn scientific results into auditable operational protocols. Co-PI structures and shared benefit keep the evidence locally owned.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 ·  THE TROPICAL PROOF HUB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C6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in motion — built, not proposed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11535" cy="932688"/>
          </a:xfrm>
          <a:prstGeom prst="roundRect">
            <a:avLst>
              <a:gd name="adj" fmla="val 8824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57984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5798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17,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2331720"/>
            <a:ext cx="109728" cy="109728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206654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Onno Müller visits Zamorano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29400" y="2029968"/>
            <a:ext cx="469361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Forschungszentrum Jülich, Brightlands and BASF Nunhems — advancing agrivoltaics, protected agriculture and student engagement.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62656"/>
            <a:ext cx="10911535" cy="932688"/>
          </a:xfrm>
          <a:prstGeom prst="roundRect">
            <a:avLst>
              <a:gd name="adj" fmla="val 8824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20040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71800" y="3374136"/>
            <a:ext cx="109728" cy="109728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31089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Duke University node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29400" y="3072384"/>
            <a:ext cx="469361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nutrient-sensing and food-innovation pilot that validates the Hub's institutional workflow under MRV/QA.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05072"/>
            <a:ext cx="10911535" cy="932688"/>
          </a:xfrm>
          <a:prstGeom prst="roundRect">
            <a:avLst>
              <a:gd name="adj" fmla="val 8824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242816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428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71800" y="4416552"/>
            <a:ext cx="109728" cy="109728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415137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CLAAS equipment &amp; training roadmap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629400" y="4114800"/>
            <a:ext cx="469361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CLAAS formally asked Zamorano to define its medium- and long-term equipment and training needs for technical cooperation.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047488"/>
            <a:ext cx="10911535" cy="932688"/>
          </a:xfrm>
          <a:prstGeom prst="roundRect">
            <a:avLst>
              <a:gd name="adj" fmla="val 8824"/>
            </a:avLst>
          </a:prstGeom>
          <a:solidFill>
            <a:srgbClr val="EEF3E9"/>
          </a:solidFill>
          <a:ln/>
          <a:effectLst>
            <a:outerShdw sx="100000" sy="100000" kx="0" ky="0" algn="bl" rotWithShape="0" blurRad="88900" dist="25400" dir="5400000">
              <a:srgbClr val="1A2A22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5285232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E3B2E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2852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evaluation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971800" y="5458968"/>
            <a:ext cx="109728" cy="109728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519379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GEA &amp; Lely dairy quotations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629400" y="5157216"/>
            <a:ext cx="469361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72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leading dairy technologies under active comparison to inform Zamorano's modernization decisions.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ZAMORANO  ·  THE TROPICAL PROOF HUB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C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394960"/>
            <a:ext cx="137160" cy="137160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3" name="Shape 1"/>
          <p:cNvSpPr/>
          <p:nvPr/>
        </p:nvSpPr>
        <p:spPr>
          <a:xfrm>
            <a:off x="1554480" y="5852160"/>
            <a:ext cx="91440" cy="91440"/>
          </a:xfrm>
          <a:prstGeom prst="ellipse">
            <a:avLst/>
          </a:prstGeom>
          <a:solidFill>
            <a:srgbClr val="1C6B4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217920"/>
            <a:ext cx="137160" cy="137160"/>
          </a:xfrm>
          <a:prstGeom prst="ellipse">
            <a:avLst/>
          </a:prstGeom>
          <a:solidFill>
            <a:srgbClr val="8FBF3F"/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5577840"/>
            <a:ext cx="91440" cy="91440"/>
          </a:xfrm>
          <a:prstGeom prst="ellipse">
            <a:avLst/>
          </a:prstGeom>
          <a:solidFill>
            <a:srgbClr val="1C6B4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HOLISTIC 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FB3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Zamorano is not a research institute.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the tropical validation platform where global science is tested, proven, and translated into practice at scale.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NEXT FIVE YEARS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9291F"/>
          </a:solidFill>
          <a:ln w="12700">
            <a:solidFill>
              <a:srgbClr val="1C6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4178808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4636008"/>
            <a:ext cx="2093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validated practices put to 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29000" y="3977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9291F"/>
          </a:solidFill>
          <a:ln w="12700">
            <a:solidFill>
              <a:srgbClr val="1C6B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4178808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Nutrition &amp; safety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85032" y="4636008"/>
            <a:ext cx="2093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under climate stress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977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9291F"/>
          </a:solidFill>
          <a:ln w="12700">
            <a:solidFill>
              <a:srgbClr val="1C6B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4178808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73952" y="4636008"/>
            <a:ext cx="2093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resource-use per output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3977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9291F"/>
          </a:solidFill>
          <a:ln w="12700">
            <a:solidFill>
              <a:srgbClr val="1C6B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62872" y="4178808"/>
            <a:ext cx="2093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62872" y="4636008"/>
            <a:ext cx="2093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MRV/QA with independent verification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806440"/>
            <a:ext cx="6080760" cy="548640"/>
          </a:xfrm>
          <a:prstGeom prst="roundRect">
            <a:avLst>
              <a:gd name="adj" fmla="val 50000"/>
            </a:avLst>
          </a:prstGeom>
          <a:solidFill>
            <a:srgbClr val="8FBF3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806440"/>
            <a:ext cx="6080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first   ·   Evidence always   ·   Adoption at scale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2026-07-31T22:23:12Z</dcterms:created>
  <dcterms:modified xsi:type="dcterms:W3CDTF">2026-07-31T22:23:12Z</dcterms:modified>
</cp:coreProperties>
</file>